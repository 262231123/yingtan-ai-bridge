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0dd25697f0404e" /><Relationship Type="http://schemas.openxmlformats.org/officeDocument/2006/relationships/extended-properties" Target="/docProps/app.xml" Id="R79655c4f63534666" /><Relationship Type="http://schemas.openxmlformats.org/officeDocument/2006/relationships/officeDocument" Target="/ppt/presentation.xml" Id="R93928c383d8948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035a0a4d7746b6"/>
  </p:sldMasterIdLst>
  <p:notesMasterIdLst>
    <p:notesMasterId xmlns:r="http://schemas.openxmlformats.org/officeDocument/2006/relationships" r:id="R0cbaa2c46b1f4e5f"/>
  </p:notesMasterIdLst>
  <p:sldIdLst>
    <p:sldId xmlns:r="http://schemas.openxmlformats.org/officeDocument/2006/relationships" id="256" r:id="R4ffbcd4e17ad4604"/>
    <p:sldId xmlns:r="http://schemas.openxmlformats.org/officeDocument/2006/relationships" id="257" r:id="R6e14d31fb57b4800"/>
    <p:sldId xmlns:r="http://schemas.openxmlformats.org/officeDocument/2006/relationships" id="258" r:id="R5edacad54e1341a0"/>
    <p:sldId xmlns:r="http://schemas.openxmlformats.org/officeDocument/2006/relationships" id="259" r:id="R55630fc7acf34c38"/>
    <p:sldId xmlns:r="http://schemas.openxmlformats.org/officeDocument/2006/relationships" id="260" r:id="R0dab7f07279843b5"/>
    <p:sldId xmlns:r="http://schemas.openxmlformats.org/officeDocument/2006/relationships" id="261" r:id="R4798a59a00bc4780"/>
    <p:sldId xmlns:r="http://schemas.openxmlformats.org/officeDocument/2006/relationships" id="262" r:id="R8793446c2dda40e2"/>
    <p:sldId xmlns:r="http://schemas.openxmlformats.org/officeDocument/2006/relationships" id="263" r:id="R455178d847954830"/>
    <p:sldId xmlns:r="http://schemas.openxmlformats.org/officeDocument/2006/relationships" id="264" r:id="Ra41cfbc7b07b4c89"/>
    <p:sldId xmlns:r="http://schemas.openxmlformats.org/officeDocument/2006/relationships" id="265" r:id="R30233b69fb7a4980"/>
    <p:sldId xmlns:r="http://schemas.openxmlformats.org/officeDocument/2006/relationships" id="266" r:id="R967509b6cfff441b"/>
    <p:sldId xmlns:r="http://schemas.openxmlformats.org/officeDocument/2006/relationships" id="267" r:id="R6e02339846d441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4b8360b0a14965" /><Relationship Type="http://schemas.openxmlformats.org/officeDocument/2006/relationships/slideMaster" Target="/ppt/slideMasters/slideMaster1.xml" Id="Rb4035a0a4d7746b6" /><Relationship Type="http://schemas.openxmlformats.org/officeDocument/2006/relationships/notesMaster" Target="/ppt/notesMasters/notesMaster1.xml" Id="R0cbaa2c46b1f4e5f" /><Relationship Type="http://schemas.openxmlformats.org/officeDocument/2006/relationships/presProps" Target="/ppt/presProps.xml" Id="R4c478feff7344307" /><Relationship Type="http://schemas.openxmlformats.org/officeDocument/2006/relationships/tableStyles" Target="/ppt/tableStyles.xml" Id="R8303ab6e7ac34f02" /><Relationship Type="http://schemas.openxmlformats.org/officeDocument/2006/relationships/slide" Target="/ppt/slides/slide1.xml" Id="R4ffbcd4e17ad4604" /><Relationship Type="http://schemas.openxmlformats.org/officeDocument/2006/relationships/slide" Target="/ppt/slides/slide2.xml" Id="R6e14d31fb57b4800" /><Relationship Type="http://schemas.openxmlformats.org/officeDocument/2006/relationships/slide" Target="/ppt/slides/slide3.xml" Id="R5edacad54e1341a0" /><Relationship Type="http://schemas.openxmlformats.org/officeDocument/2006/relationships/slide" Target="/ppt/slides/slide4.xml" Id="R55630fc7acf34c38" /><Relationship Type="http://schemas.openxmlformats.org/officeDocument/2006/relationships/slide" Target="/ppt/slides/slide5.xml" Id="R0dab7f07279843b5" /><Relationship Type="http://schemas.openxmlformats.org/officeDocument/2006/relationships/slide" Target="/ppt/slides/slide6.xml" Id="R4798a59a00bc4780" /><Relationship Type="http://schemas.openxmlformats.org/officeDocument/2006/relationships/slide" Target="/ppt/slides/slide7.xml" Id="R8793446c2dda40e2" /><Relationship Type="http://schemas.openxmlformats.org/officeDocument/2006/relationships/slide" Target="/ppt/slides/slide8.xml" Id="R455178d847954830" /><Relationship Type="http://schemas.openxmlformats.org/officeDocument/2006/relationships/slide" Target="/ppt/slides/slide9.xml" Id="Ra41cfbc7b07b4c89" /><Relationship Type="http://schemas.openxmlformats.org/officeDocument/2006/relationships/slide" Target="/ppt/slides/slide10.xml" Id="R30233b69fb7a4980" /><Relationship Type="http://schemas.openxmlformats.org/officeDocument/2006/relationships/slide" Target="/ppt/slides/slide11.xml" Id="R967509b6cfff441b" /><Relationship Type="http://schemas.openxmlformats.org/officeDocument/2006/relationships/slide" Target="/ppt/slides/slide12.xml" Id="R6e02339846d441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d98c7d6c02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412007ff2d4de2" /><Relationship Type="http://schemas.openxmlformats.org/officeDocument/2006/relationships/notesMaster" Target="/ppt/notesMasters/notesMaster1.xml" Id="R8743331eca0745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e9f7aff06d43a1" /><Relationship Type="http://schemas.openxmlformats.org/officeDocument/2006/relationships/notesMaster" Target="/ppt/notesMasters/notesMaster1.xml" Id="R133c1b000e0e4f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c47cc7dba4fc6" /><Relationship Type="http://schemas.openxmlformats.org/officeDocument/2006/relationships/notesMaster" Target="/ppt/notesMasters/notesMaster1.xml" Id="Rbc2b4fc1409a48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b39bca5f7641bb" /><Relationship Type="http://schemas.openxmlformats.org/officeDocument/2006/relationships/notesMaster" Target="/ppt/notesMasters/notesMaster1.xml" Id="Racadcb6e4a9045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8a44b0873a46e9" /><Relationship Type="http://schemas.openxmlformats.org/officeDocument/2006/relationships/notesMaster" Target="/ppt/notesMasters/notesMaster1.xml" Id="R2aa1127172634e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cbff32d2264372" /><Relationship Type="http://schemas.openxmlformats.org/officeDocument/2006/relationships/notesMaster" Target="/ppt/notesMasters/notesMaster1.xml" Id="R8a4e25af82cc45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1a2bb0a35c4810" /><Relationship Type="http://schemas.openxmlformats.org/officeDocument/2006/relationships/notesMaster" Target="/ppt/notesMasters/notesMaster1.xml" Id="Rdbb6ed1f2e5649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fde3cf708843bc" /><Relationship Type="http://schemas.openxmlformats.org/officeDocument/2006/relationships/notesMaster" Target="/ppt/notesMasters/notesMaster1.xml" Id="Refa1bbf2d13e4c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8638906d3644bb" /><Relationship Type="http://schemas.openxmlformats.org/officeDocument/2006/relationships/notesMaster" Target="/ppt/notesMasters/notesMaster1.xml" Id="R6a2f8af9c7da4b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9c6318ecf94142" /><Relationship Type="http://schemas.openxmlformats.org/officeDocument/2006/relationships/notesMaster" Target="/ppt/notesMasters/notesMaster1.xml" Id="R9f6fe624852f41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6d765874bd472b" /><Relationship Type="http://schemas.openxmlformats.org/officeDocument/2006/relationships/notesMaster" Target="/ppt/notesMasters/notesMaster1.xml" Id="Rd816d315527041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46c06806814d19" /><Relationship Type="http://schemas.openxmlformats.org/officeDocument/2006/relationships/notesMaster" Target="/ppt/notesMasters/notesMaster1.xml" Id="R95d3d27a01ce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开场先明确产品定位：它不是通用聊天机器人，而是工程软件里的 AI 执行桥。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local product repository; conceptual visual generated for this deck and labeled as such in the companion article.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把客户熟悉的重复操作痛点，转化为三个产品必须解决的系统断点。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E:/CodeXwork/AI接入REVIT/docs/yingtan-ai-bridge-product-line.md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这一页只讲一句话：AI 负责理解和规划，宿主 API 负责真实执行。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强调每个阶段都有可读、可审查的中间产物。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E:/CodeXwork/AI接入REVIT/docs/usage-guide.md; E:/CodeXwork/AI接入REVIT/docs/ai-automation-scripts.md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Revit 端说明产品的完整交互：聊天、上下文、计划、确认和结果解释。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E:/CodeXwork/AI接入REVIT/src/RevitCodexBridge.Addin/ChatDockPane.xaml; conceptual visual generated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三端共享配置和安全约定，但对象映射与执行器各自独立。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E:/CodeXwork/AI接入REVIT/docs/yingtan-ai-bridge-product-line.md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负责如何思考，Skill 负责如何按团队规则完成一类任务。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E:/CodeXwork/AI接入REVIT/docs/ai-automation-scripts.md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安全不是一句免责声明，而是被固化为默认执行路径。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E:/CodeXwork/AI接入REVIT/docs/usage-guide.md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说明产品不绑定单一模型服务，配置和团队能力可以随项目演进。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E:/CodeXwork/AI接入REVIT/docs/yingtan-ai-bridge-product-line.md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不承诺未经验证的效率比例，用任务是否可验证来决定落地顺序。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E:/CodeXwork/AI接入REVIT/docs/usage-guide.md; E:/CodeXwork/AI接入REVIT/src/YingTanAiBridge.AutoCAD/README.md; E:/CodeXwork/AI接入REVIT/src/YingTanAiBridge.Rhino/README.md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现场状态如实说明：AutoCAD 2022 已部署但仍需完成运行回归，Inventor 暂为适配入口。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E:/CodeXwork/AI接入REVIT/docs/yingtan-ai-bridge-product-line.md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收束到合作入口：产品试用、典型场景共创和企业 Skill 定制。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E:/CodeXwork/AI接入REVIT; contact details supplied by product owner.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fc03fee0249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d825eeb624fda" /><Relationship Type="http://schemas.openxmlformats.org/officeDocument/2006/relationships/slideLayout" Target="/ppt/slideLayouts/slideLayout1.xml" Id="R9351b68f18fd42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51b68f18fd42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b4b120b924680" /><Relationship Type="http://schemas.openxmlformats.org/officeDocument/2006/relationships/image" Target="/ppt/media/image.png" Id="Rccad985d39b24091" /><Relationship Type="http://schemas.openxmlformats.org/officeDocument/2006/relationships/notesSlide" Target="/ppt/notesSlides/notesSlide1.xml" Id="Ra54661b0b99847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931a3b5294496" /><Relationship Type="http://schemas.openxmlformats.org/officeDocument/2006/relationships/notesSlide" Target="/ppt/notesSlides/notesSlide2.xml" Id="R93a88390013643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a2f114f5a40e9" /><Relationship Type="http://schemas.openxmlformats.org/officeDocument/2006/relationships/notesSlide" Target="/ppt/notesSlides/notesSlide3.xml" Id="R70445565021642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57f54f88f47aa" /><Relationship Type="http://schemas.openxmlformats.org/officeDocument/2006/relationships/notesSlide" Target="/ppt/notesSlides/notesSlide4.xml" Id="R0f89fd905905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a9e284a264173" /><Relationship Type="http://schemas.openxmlformats.org/officeDocument/2006/relationships/image" Target="/ppt/media/image2.png" Id="R3a61103c21fc43d5" /><Relationship Type="http://schemas.openxmlformats.org/officeDocument/2006/relationships/notesSlide" Target="/ppt/notesSlides/notesSlide5.xml" Id="R6b2bb7448e3c4f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b952e1d1b4ceb" /><Relationship Type="http://schemas.openxmlformats.org/officeDocument/2006/relationships/notesSlide" Target="/ppt/notesSlides/notesSlide6.xml" Id="R27f17e6f831441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157993b3a4353" /><Relationship Type="http://schemas.openxmlformats.org/officeDocument/2006/relationships/notesSlide" Target="/ppt/notesSlides/notesSlide7.xml" Id="R8f837dbc98d540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1be0f1032437b" /><Relationship Type="http://schemas.openxmlformats.org/officeDocument/2006/relationships/notesSlide" Target="/ppt/notesSlides/notesSlide8.xml" Id="R77892520ff5248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c1d23c944ddf" /><Relationship Type="http://schemas.openxmlformats.org/officeDocument/2006/relationships/notesSlide" Target="/ppt/notesSlides/notesSlide9.xml" Id="Rb8cb3b45994444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a9d50dbe4469e" /><Relationship Type="http://schemas.openxmlformats.org/officeDocument/2006/relationships/notesSlide" Target="/ppt/notesSlides/notesSlide10.xml" Id="Ra6ac0d080a644a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236f2591547f4" /><Relationship Type="http://schemas.openxmlformats.org/officeDocument/2006/relationships/notesSlide" Target="/ppt/notesSlides/notesSlide11.xml" Id="Rc41e95b70e9145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e4c3cd5d34a01" /><Relationship Type="http://schemas.openxmlformats.org/officeDocument/2006/relationships/image" Target="/ppt/media/image3.png" Id="Ra5f5e8bc80ef4ef2" /><Relationship Type="http://schemas.openxmlformats.org/officeDocument/2006/relationships/notesSlide" Target="/ppt/notesSlides/notesSlide12.xml" Id="Rf6ed24702b78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50F1476F-C456-4336-9B28-04C8A25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5810250" cy="261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盈碳 AI
工程助手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7184C5C-1289-4F52-B8C8-1F705AB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42925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让自然语言成为 Revit、AutoCAD 与 Rhino 的受控操作入口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8E464F6-BAC9-4C57-9829-1AA09B77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YINGTAN TECHNOLOGY / PRODUCT DECK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d985d39b24091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EBC80-E7F8-4D1E-8541-41ADFFA7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90811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0F3CA6E-35A4-4C5C-B3D7-E44038A8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6C979C6-D97A-4B01-AD88-75FE6DCE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工程软件很强，但“意图到执行”仍有三道断点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B22B3CFE-2FAB-407C-9C2A-82EB21F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51F581D6-C299-4195-90C0-21233955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0908D7D-1B4A-4750-9B87-9800A59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AI 与宿主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大模型能解释，但不能绕过 Revit/CAD/Rhino 的执行上下文。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78AADE1-0E7B-4B48-A2AE-4A681C12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自动化与治理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写入需要预演、确认、日志与回滚，而不只是生成代码。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A11DB147-FF11-4EEA-9269-58ED4BC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8F754C0-5B19-4218-82A8-5D9E2F7A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9BE51440-1EBC-48CE-919D-B5101D79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CEEFA37-1A3C-4CCA-82C2-0DF9EBF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意图与命令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自然语言难以直接映射到专业对象和精确参数。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CFA9A7D7-40A8-48CB-84D8-E6C71718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35B44121-15E4-42BF-B99B-65DD4405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现实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工程师说目标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软件需要对象、参数、坐标与事务。</a:t>
            </a:r>
          </a:p>
        </p:txBody>
      </p:sp>
      <p:sp>
        <p:nvSpPr>
          <p:cNvPr id="13" name="accent-2">
            <a:extLst xmlns:a="http://schemas.openxmlformats.org/drawingml/2006/main">
              <a:ext uri="{FF2B5EF4-FFF2-40B4-BE49-F238E27FC236}">
                <a16:creationId xmlns:a16="http://schemas.microsoft.com/office/drawing/2014/main" id="{8C1D5D7E-C433-49D8-9124-E106F2AC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and-chip-2">
            <a:extLst xmlns:a="http://schemas.openxmlformats.org/drawingml/2006/main">
              <a:ext uri="{FF2B5EF4-FFF2-40B4-BE49-F238E27FC236}">
                <a16:creationId xmlns:a16="http://schemas.microsoft.com/office/drawing/2014/main" id="{E4614C8B-E789-4A69-BD8D-AC1DA2C9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0265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DF86E9DE-A01B-498B-9F4E-216BCF0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不是只回答
而是把意图变成工程动作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DDB3245-DAF7-4CEF-B27D-94C05100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产品定位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0E56188-FE7D-479E-94E2-EFDB5A87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YINGTAN AI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AD1A6-3AEA-474B-A038-CC170FC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91250"/>
            <a:ext cx="3905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3">
            <a:extLst xmlns:a="http://schemas.openxmlformats.org/drawingml/2006/main">
              <a:ext uri="{FF2B5EF4-FFF2-40B4-BE49-F238E27FC236}">
                <a16:creationId xmlns:a16="http://schemas.microsoft.com/office/drawing/2014/main" id="{AB9B57A7-7D6B-44C5-9060-DFE0151C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-chip-3">
            <a:extLst xmlns:a="http://schemas.openxmlformats.org/drawingml/2006/main">
              <a:ext uri="{FF2B5EF4-FFF2-40B4-BE49-F238E27FC236}">
                <a16:creationId xmlns:a16="http://schemas.microsoft.com/office/drawing/2014/main" id="{3C7D8E3B-DDC3-4B12-A15D-62A88865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2166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1ED8144-1353-4EAF-B9C8-C718F5D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9651C92-91DB-407B-98EE-D5040A5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从一句话到一次可审查的工程操作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889A1DF-73BC-4591-B2D6-43410FEF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D2E69E9-9E25-4675-AB5A-727013F7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26DDCC2-9C63-41B2-B126-87D04B91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0DAC363-5148-4CAA-AF09-D230AC3B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01  理解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8A9701D-AF62-4D12-B1AC-53DBA2F2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02  规划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58C540F-4A7F-4765-B7E3-A032678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03  执行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14A7D5E-BA2B-443C-999A-4AB83B40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模型 + Agent + Skill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生成受约束的结构化命令，并完成参数校验。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B4CFF0D-9DF6-4B58-9F8D-07BB9F4B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意图 + 上下文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读取当前文档、选择集、元素或对象信息。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3590A6A-A636-463E-9D79-50ED9770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预演 + 确认 + API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查询直接运行；写操作确认后进入宿主事务。</a:t>
            </a:r>
          </a:p>
        </p:txBody>
      </p:sp>
      <p:sp>
        <p:nvSpPr>
          <p:cNvPr id="13" name="accent-4">
            <a:extLst xmlns:a="http://schemas.openxmlformats.org/drawingml/2006/main">
              <a:ext uri="{FF2B5EF4-FFF2-40B4-BE49-F238E27FC236}">
                <a16:creationId xmlns:a16="http://schemas.microsoft.com/office/drawing/2014/main" id="{A69A5EE3-C275-40EB-B8F0-BE60F3CC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and-chip-4">
            <a:extLst xmlns:a="http://schemas.openxmlformats.org/drawingml/2006/main">
              <a:ext uri="{FF2B5EF4-FFF2-40B4-BE49-F238E27FC236}">
                <a16:creationId xmlns:a16="http://schemas.microsoft.com/office/drawing/2014/main" id="{68E56D01-1DC0-4584-ADFC-1159809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50354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3957C9F-43E9-493F-9433-8BA1BDF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014A84E-373C-456E-BD31-5AA75F76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盈碳 Revit AI Bridge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0A6A21FC-2593-4374-9991-05F05EF9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1103c21fc43d5"/>
          <a:srcRect xmlns:a="http://schemas.openxmlformats.org/drawingml/2006/main" l="22173" t="0" r="22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E1BE9835-0C12-478C-8FDA-431B46FC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对话与模型执行同屏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右侧停靠式 AI 助手保留独立会话和历史，消息可选择复制。读取当前模型上下文，支持元素统计、参数与构件操作；写入前先展示计划并等待确认。</a:t>
            </a:r>
          </a:p>
        </p:txBody>
      </p:sp>
      <p:sp>
        <p:nvSpPr>
          <p:cNvPr id="6" name="accent-5">
            <a:extLst xmlns:a="http://schemas.openxmlformats.org/drawingml/2006/main">
              <a:ext uri="{FF2B5EF4-FFF2-40B4-BE49-F238E27FC236}">
                <a16:creationId xmlns:a16="http://schemas.microsoft.com/office/drawing/2014/main" id="{74EEB4FD-4AC7-49D8-89E7-3ED4347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rand-chip-5">
            <a:extLst xmlns:a="http://schemas.openxmlformats.org/drawingml/2006/main">
              <a:ext uri="{FF2B5EF4-FFF2-40B4-BE49-F238E27FC236}">
                <a16:creationId xmlns:a16="http://schemas.microsoft.com/office/drawing/2014/main" id="{5CE77F26-519A-4025-8338-7EF62543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94473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3727C78-A4E3-43A2-8889-58BA8C8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8E27E4-14E0-454D-A2ED-87D40827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同一套 AI 配置，适配不同工程宿主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8C182F0-49B9-44C3-A679-12C7C312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Revit AI Bridge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Revit 2027 主开发宿主
元素、参数、事务与模型自动化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886EA7EA-D788-469F-A0E6-E47EBBF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Rhino AI Bridge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Rhino 8 原生 Eto 窗口
文档对象、图层与受控几何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65EAE3F9-F92D-40F6-A82C-E16A1C8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AutoCAD AI Bridge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AutoCAD 2022 右侧 Palette
DWG、图层、选择集与受控绘图</a:t>
            </a:r>
          </a:p>
        </p:txBody>
      </p:sp>
      <p:sp>
        <p:nvSpPr>
          <p:cNvPr id="6" name="accent-6">
            <a:extLst xmlns:a="http://schemas.openxmlformats.org/drawingml/2006/main">
              <a:ext uri="{FF2B5EF4-FFF2-40B4-BE49-F238E27FC236}">
                <a16:creationId xmlns:a16="http://schemas.microsoft.com/office/drawing/2014/main" id="{20BF9E51-6109-4921-A567-74170DAE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rand-chip-6">
            <a:extLst xmlns:a="http://schemas.openxmlformats.org/drawingml/2006/main">
              <a:ext uri="{FF2B5EF4-FFF2-40B4-BE49-F238E27FC236}">
                <a16:creationId xmlns:a16="http://schemas.microsoft.com/office/drawing/2014/main" id="{28785CB9-1F65-49EB-AC5A-233867A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20163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683AFE6-7343-4227-947A-53454E66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E80CE41-48AB-4E49-955E-2A3072BD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Agent 与 Skill：把个人经验变成团队可复用能力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C321EA-14F0-4626-972F-C3BE4508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Agent 定义角色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规定目标、策略、边界和输出口径。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DD5E85C-30D8-459A-8C0A-3375D3F3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Skill 封装流程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把命名、检查、建模和出图规则版本化。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6392EEE-243F-4B88-BB92-4512C081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结构化计划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能力扩展不绕过宿主适配器和命令验证。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1E261D5-2D34-4B83-B7B6-0F70E3F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既有插件编排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精装等专业插件仅在明确意图下作为 Skill 调用。</a:t>
            </a:r>
          </a:p>
        </p:txBody>
      </p:sp>
      <p:sp>
        <p:nvSpPr>
          <p:cNvPr id="7" name="accent-7">
            <a:extLst xmlns:a="http://schemas.openxmlformats.org/drawingml/2006/main">
              <a:ext uri="{FF2B5EF4-FFF2-40B4-BE49-F238E27FC236}">
                <a16:creationId xmlns:a16="http://schemas.microsoft.com/office/drawing/2014/main" id="{4759CD20-62BF-4EEB-942C-4D04017B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rand-chip-7">
            <a:extLst xmlns:a="http://schemas.openxmlformats.org/drawingml/2006/main">
              <a:ext uri="{FF2B5EF4-FFF2-40B4-BE49-F238E27FC236}">
                <a16:creationId xmlns:a16="http://schemas.microsoft.com/office/drawing/2014/main" id="{941D0A96-3EF4-444A-B807-7AB6E920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17106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86106B4-7B51-429E-8338-54BC98B7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B1CD14F-414A-408C-B37D-6D55B597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工程自动化需要的，不只是聪明，更是边界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15908B3-AA63-4B5B-B32E-E2CAAC9D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宿主 API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插件在宿主进程内调用官方对象模型。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D3AE235-8789-46C7-A0B5-4A3FF014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Dry-run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创建、修改、删除先展示影响范围。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AA7BAF0-2007-41E5-A70C-D96D8FD6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显式确认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用户确认后才进入事务或数据库写入。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F33510F-39F1-4D18-A1E7-FB72497C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日志与回滚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记录计划和结果，批量执行可按策略回滚。</a:t>
            </a:r>
          </a:p>
        </p:txBody>
      </p:sp>
      <p:sp>
        <p:nvSpPr>
          <p:cNvPr id="7" name="accent-8">
            <a:extLst xmlns:a="http://schemas.openxmlformats.org/drawingml/2006/main">
              <a:ext uri="{FF2B5EF4-FFF2-40B4-BE49-F238E27FC236}">
                <a16:creationId xmlns:a16="http://schemas.microsoft.com/office/drawing/2014/main" id="{44054055-741D-4E99-9346-DA7022EB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rand-chip-8">
            <a:extLst xmlns:a="http://schemas.openxmlformats.org/drawingml/2006/main">
              <a:ext uri="{FF2B5EF4-FFF2-40B4-BE49-F238E27FC236}">
                <a16:creationId xmlns:a16="http://schemas.microsoft.com/office/drawing/2014/main" id="{DE056D58-9B61-4C68-98C9-815A0C8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64916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ECD03E9-DD67-44F6-B646-17988725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7B08901-0EAE-49EF-A2DD-A1135F2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模型服务可配置，团队知识可持续扩展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EEBF2D6-2CD1-48C8-9DB8-C0E12AA3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多模型提供商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OpenAI、智谱、Kimi、火山方舟/豆包等可按项目配置。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55F29B2-01C0-4B4E-AA5F-44FC9E35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本地密钥保护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API Key 使用 Windows DPAPI 加密，保存前自动备份配置。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9DED0D54-E513-4EB2-93BB-EAFA708B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跨宿主共享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Revit、AutoCAD 与 Rhino 读取同一份模型、Agent 和 Skill 配置。</a:t>
            </a:r>
          </a:p>
        </p:txBody>
      </p:sp>
      <p:sp>
        <p:nvSpPr>
          <p:cNvPr id="6" name="accent-9">
            <a:extLst xmlns:a="http://schemas.openxmlformats.org/drawingml/2006/main">
              <a:ext uri="{FF2B5EF4-FFF2-40B4-BE49-F238E27FC236}">
                <a16:creationId xmlns:a16="http://schemas.microsoft.com/office/drawing/2014/main" id="{40930B66-D8FA-44D0-8EBF-6E11DC76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rand-chip-9">
            <a:extLst xmlns:a="http://schemas.openxmlformats.org/drawingml/2006/main">
              <a:ext uri="{FF2B5EF4-FFF2-40B4-BE49-F238E27FC236}">
                <a16:creationId xmlns:a16="http://schemas.microsoft.com/office/drawing/2014/main" id="{11856C1A-DCBC-41D9-BC09-C97CA62E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76686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CD960F3-E179-40BA-9AE2-6C1AED37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3AE0D5A-B11A-4279-8FC9-650615D2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先从规则清晰、结果可验证的场景开始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A7668F2-EC35-46BE-B8A4-5B73736A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模型查询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统计对象、元素或选择集，并解释统计口径。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3B0A3D5-45FF-44B9-BC0F-235E9D0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参数与构件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创建构件、修改参数，写入前预演。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4FFEE46-94F8-4E71-8657-EEE1500B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CAD / Rhino 整理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图层、基础几何和对象信息的受控操作。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5D75AAE-ED05-4577-9FC4-FB0E941B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企业标准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把检查表、命名和专业流程封装为 Skill。</a:t>
            </a:r>
          </a:p>
        </p:txBody>
      </p:sp>
      <p:sp>
        <p:nvSpPr>
          <p:cNvPr id="7" name="accent-10">
            <a:extLst xmlns:a="http://schemas.openxmlformats.org/drawingml/2006/main">
              <a:ext uri="{FF2B5EF4-FFF2-40B4-BE49-F238E27FC236}">
                <a16:creationId xmlns:a16="http://schemas.microsoft.com/office/drawing/2014/main" id="{D5FA8F22-0DAE-4B0A-B841-71222C30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rand-chip-10">
            <a:extLst xmlns:a="http://schemas.openxmlformats.org/drawingml/2006/main">
              <a:ext uri="{FF2B5EF4-FFF2-40B4-BE49-F238E27FC236}">
                <a16:creationId xmlns:a16="http://schemas.microsoft.com/office/drawing/2014/main" id="{EE748AF2-C1B9-41F0-9E6B-5EFA63E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5272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54F020F-6153-4CC0-A068-3DDA534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5567E38-89B2-48EB-BB4C-5B90D8CD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建议用三步，把 AI 工程助手带进真实项目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B810162-FDEB-4B61-8CA1-39C2A925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67A0EF6-02CD-4951-BE68-2577A24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3AA8E45-77D5-49AD-A98B-03991891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AF03235-C219-4451-A7A7-9E40AE9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阶段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28C381D-2A1A-4DB5-8399-8934C10E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阶段 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0E7368E-3168-4A7C-8377-880E66DC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阶段 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217D51F-5771-4821-83DE-03BC9384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固化高频流程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选 1—2 个场景，做成 Agent 或 Skill。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3DC8C9F-CAC3-47F8-8880-3867CEAB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验证连接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测试模型、查询命令、模型服务与日志。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C2871A7-5803-4AC9-B5B1-0C082376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建立回归与治理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白名单、事务、备份和真实项目样例。</a:t>
            </a:r>
          </a:p>
        </p:txBody>
      </p:sp>
      <p:sp>
        <p:nvSpPr>
          <p:cNvPr id="13" name="accent-11">
            <a:extLst xmlns:a="http://schemas.openxmlformats.org/drawingml/2006/main">
              <a:ext uri="{FF2B5EF4-FFF2-40B4-BE49-F238E27FC236}">
                <a16:creationId xmlns:a16="http://schemas.microsoft.com/office/drawing/2014/main" id="{6DBF40FF-9F3C-4613-8350-C6DCE5E8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and-chip-11">
            <a:extLst xmlns:a="http://schemas.openxmlformats.org/drawingml/2006/main">
              <a:ext uri="{FF2B5EF4-FFF2-40B4-BE49-F238E27FC236}">
                <a16:creationId xmlns:a16="http://schemas.microsoft.com/office/drawing/2014/main" id="{3735CB16-56EB-4A0D-8025-466A2152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1669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3-1">
            <a:extLst xmlns:a="http://schemas.openxmlformats.org/drawingml/2006/main">
              <a:ext uri="{FF2B5EF4-FFF2-40B4-BE49-F238E27FC236}">
                <a16:creationId xmlns:a16="http://schemas.microsoft.com/office/drawing/2014/main" id="{C049FB55-606F-4D06-967E-E682ABB4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让工程软件
真正听懂意图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FEF438C-A2B8-4B90-A301-D74AD9A2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ytszkj.net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0242B"/>
                </a:solidFill>
                <a:latin typeface="Microsoft YaHei UI"/>
                <a:ea typeface="Microsoft YaHei UI"/>
                <a:cs typeface="Microsoft YaHei UI"/>
              </a:rPr>
              <a:t>scott.xyc@foxmail.com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07D"/>
                </a:solidFill>
                <a:latin typeface="Microsoft YaHei UI"/>
                <a:ea typeface="Microsoft YaHei UI"/>
                <a:cs typeface="Microsoft YaHei UI"/>
              </a:rPr>
              <a:t>产品试用 · 场景共创 · 企业 Skill 定制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DB747D4-A81B-4F9E-9EFF-74A7E5CB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Microsoft YaHei UI"/>
                <a:ea typeface="Microsoft YaHei UI"/>
                <a:cs typeface="Microsoft YaHei UI"/>
              </a:rPr>
              <a:t>盈碳科技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635AB-4C74-4F00-B957-EF31DA77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562350" cy="431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9DD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5e8bc80ef4ef2"/>
          <a:srcRect xmlns:a="http://schemas.openxmlformats.org/drawingml/2006/main" l="26767" t="0" r="267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1733550"/>
            <a:ext cx="3562350" cy="4314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DADAF-F951-4CD9-B418-51CA4CF4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990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-12">
            <a:extLst xmlns:a="http://schemas.openxmlformats.org/drawingml/2006/main">
              <a:ext uri="{FF2B5EF4-FFF2-40B4-BE49-F238E27FC236}">
                <a16:creationId xmlns:a16="http://schemas.microsoft.com/office/drawing/2014/main" id="{9A5DF5E6-8244-467E-9AAB-559A00EB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rand-chip-12">
            <a:extLst xmlns:a="http://schemas.openxmlformats.org/drawingml/2006/main">
              <a:ext uri="{FF2B5EF4-FFF2-40B4-BE49-F238E27FC236}">
                <a16:creationId xmlns:a16="http://schemas.microsoft.com/office/drawing/2014/main" id="{0AE7D82C-2F39-4DC1-9CE1-6066B160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2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1864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2026-08-07T07:50:53.2880000Z</dcterms:created>
  <dcterms:modified xsi:type="dcterms:W3CDTF">2026-08-07T07:50:53.2890000Z</dcterms:modified>
</coreProperties>
</file>